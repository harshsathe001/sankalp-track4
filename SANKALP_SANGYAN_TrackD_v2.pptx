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1097280" y="320040"/>
            <a:ext cx="6949440" cy="822960"/>
          </a:xfrm>
          <a:prstGeom prst="rect">
            <a:avLst/>
          </a:prstGeom>
          <a:solidFill>
            <a:srgbClr val="3C6695"/>
          </a:solidFill>
          <a:ln w="12700">
            <a:solidFill>
              <a:srgbClr val="3C669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3200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SANGYAN – Investor Resilience Hackathon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SNTC, IIT (BHU) Varanasi  ×  SEBI  ×  NSDL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949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 – On-device Behavioural Circuit-Breaker &amp; Vernacular Decision Journal for Retail Investors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– Financial Habits &amp; Behavioural Resilience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Protection / Public-Good Technology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Institute: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KIT's College of Engineering, Kolhapur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Participants: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Guruprasad Shinde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Harshvardhan Sathe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Pratiksha Bhaskare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Mentorship &amp; Support Needed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Required (No funding sought – public good)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14800" cy="356616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051560"/>
            <a:ext cx="4023360" cy="3511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access: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API/language-pack access for Hindi, Marathi and other Indian languages (STT/TTS)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or synthetic retail trading-behaviour datasets for model validation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access: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Investor-education bodies and SEBI/NSDL outreach for 50–100 user pilot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wording so no output reads as advice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effort split: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ML 30% · Safety engine &amp; lock UI 25% · Vernacular voice 25% · Privacy, testing &amp; compliance 20%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open, privacy-first safety layer usable by any investor in India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429768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685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you need mentorship ?  Yes – needed in: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24128"/>
            <a:ext cx="4297680" cy="356616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051560"/>
            <a:ext cx="4206240" cy="3511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finance: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loss-chasing, FOMO and revenge-trading signals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/ investor protection: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interpretation and threshold selection (X%, Y%)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quantisation and latency on low-end devices and browsers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NLP &amp; voice: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integration, dialect handling, accessibility</a:t>
            </a:r>
            <a:endParaRPr lang="en-US" sz="11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mentors: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Investor-protection practitioners, behavioural economists, on-device ML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Social Need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329184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640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640080"/>
            <a:ext cx="516636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6400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Need: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978408"/>
            <a:ext cx="3291840" cy="214884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1005840"/>
            <a:ext cx="3200400" cy="2093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the Emotional Trading Loop in Bharat's Retail Investors </a:t>
            </a:r>
            <a:pPr algn="l" indent="0" marL="0">
              <a:buNone/>
            </a:pPr>
            <a:endParaRPr lang="en-US" sz="95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Fear, greed, FOMO and revenge trading, often funded by instant loans or emergency savings, push first-time investors in Tier-2/3 cities into decisions they would not make with a clear head. Trading systems optimise for frictionless execution, and no privacy-first, on-device, vernacular layer exists to enforce a reflective pause.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3291840" cy="141732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3227832"/>
            <a:ext cx="3200400" cy="13624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crore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demat accounts; 70%+ of new retail accounts from non-metro cities</a:t>
            </a:r>
            <a:endParaRPr lang="en-US" sz="9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 10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F&amp;O traders make net losses (SEBI)</a:t>
            </a:r>
            <a:endParaRPr lang="en-US" sz="9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pause, no vernacular tools, no privacy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10515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4F81BC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Triggers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178308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FOMO from social-media tips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94760" y="265176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94760" y="265176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Panic selling in crashes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94760" y="352044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352044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Revenge trading after losses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56632" y="10515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5D9F0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6632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Gaps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02352" y="178308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02352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pause before risky actions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02352" y="265176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02352" y="265176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reward more trading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02352" y="352044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02352" y="352044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vernacular reflection tools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64224" y="10515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4F81BC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64224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Consequences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9944" y="178308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9944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savings wiped out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9944" y="265176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9944" y="265176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from loan-funded trades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9944" y="352044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352044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stress and distrust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71816" y="10515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5D9F0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71816" y="105156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Impacted Groups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17536" y="178308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17536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Tier-2/3 investors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17536" y="265176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17536" y="265176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Young, social-media-led traders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717536" y="3520440"/>
            <a:ext cx="1143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17536" y="3520440"/>
            <a:ext cx="11430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Regional-language users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Solution &amp; Social Impact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Pause. Reflect. Decide. A privacy-first web app that detects impulsive trading, locks the next action, and asks the investor to explain their reasoning by voice in their own language. It gives no stock advice.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82880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828800" cy="178308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1444752"/>
            <a:ext cx="1737360" cy="1728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+ on-device model flags loss-chasing, over-leverage, late-night trading</a:t>
            </a:r>
            <a:endParaRPr lang="en-US" sz="9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circuit-breaker locks submit with a cooling-off timer</a:t>
            </a:r>
            <a:endParaRPr lang="en-US" sz="9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reflection and encrypted decision log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097280"/>
            <a:ext cx="182880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1417320"/>
            <a:ext cx="1828800" cy="178308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1444752"/>
            <a:ext cx="1737360" cy="1728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exactly when emotion peaks</a:t>
            </a:r>
            <a:endParaRPr lang="en-US" sz="9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removes the English and typing barrier</a:t>
            </a:r>
            <a:endParaRPr lang="en-US" sz="9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never leaves the browser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097280"/>
            <a:ext cx="182880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1417320"/>
            <a:ext cx="1828800" cy="178308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1444752"/>
            <a:ext cx="1737360" cy="1728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Investor-protection infrastructure, not a trading tool</a:t>
            </a:r>
            <a:endParaRPr lang="en-US" sz="9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and embeddable</a:t>
            </a:r>
            <a:endParaRPr lang="en-US" sz="90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lasting decision discipline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1188720" cy="685800"/>
          </a:xfrm>
          <a:prstGeom prst="chevron">
            <a:avLst/>
          </a:prstGeom>
          <a:solidFill>
            <a:srgbClr val="4F81BC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383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 Monitor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behaviour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435608" y="3383280"/>
            <a:ext cx="1188720" cy="685800"/>
          </a:xfrm>
          <a:prstGeom prst="chevron">
            <a:avLst/>
          </a:prstGeom>
          <a:solidFill>
            <a:srgbClr val="C5D9F0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00200" y="3383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2 Detect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risk pattern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96896" y="3383280"/>
            <a:ext cx="1188720" cy="685800"/>
          </a:xfrm>
          <a:prstGeom prst="chevron">
            <a:avLst/>
          </a:prstGeom>
          <a:solidFill>
            <a:srgbClr val="4F81BC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61488" y="3383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 Lock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circuit-breaker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758184" y="3383280"/>
            <a:ext cx="1188720" cy="685800"/>
          </a:xfrm>
          <a:prstGeom prst="chevron">
            <a:avLst/>
          </a:prstGeom>
          <a:solidFill>
            <a:srgbClr val="C5D9F0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22776" y="3383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4 Reflect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voice journal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919472" y="3383280"/>
            <a:ext cx="1188720" cy="685800"/>
          </a:xfrm>
          <a:prstGeom prst="chevron">
            <a:avLst/>
          </a:prstGeom>
          <a:solidFill>
            <a:srgbClr val="4F81BC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84064" y="33832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 Unlock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log &amp; resume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stays in control: SANKALP delays an action, it never forbids it.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1097280"/>
            <a:ext cx="260604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1097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1417320"/>
            <a:ext cx="2606040" cy="315468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1444752"/>
            <a:ext cx="2514600" cy="30998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wellness: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panic and revenge trades; savings protected</a:t>
            </a:r>
            <a:endParaRPr lang="en-US" sz="9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change: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of stating reasoning and time horizon</a:t>
            </a:r>
            <a:endParaRPr lang="en-US" sz="9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Inclusion: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voice for low-literacy users</a:t>
            </a:r>
            <a:endParaRPr lang="en-US" sz="9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Trust: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design, no monetisation</a:t>
            </a:r>
            <a:endParaRPr lang="en-US" sz="9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</a:t>
            </a:r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loss-chasing trades after a lock; high reflection completion (to be measured in pilot)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&amp; Differentiation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SANKALP protects the investor from impulse, privately and in their own language.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44805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SANKALP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frequent trading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deliberate 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analytics of habits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in-browser processing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English-first typed forms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Vernacular voice reflection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alerts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override ML, with reasons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Tips, nudges, upsells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advice, no monetisation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 after the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before the next trade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960120"/>
            <a:ext cx="393192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960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3 X-Factors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1325880"/>
            <a:ext cx="3931920" cy="100584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1353312"/>
            <a:ext cx="3840480" cy="950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Public-good behavioural airbag 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FOMO and revenge trading; pure investor protection (Resilience &amp; Safety, 30%)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2423160"/>
            <a:ext cx="3931920" cy="100584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83480" y="2450592"/>
            <a:ext cx="3840480" cy="950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Radical on-device privacy 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or personal data leaves the browser; compliant by design (Trust, 15%)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37760" y="3520440"/>
            <a:ext cx="3931920" cy="100584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83480" y="3547872"/>
            <a:ext cx="3840480" cy="9509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Bhashini-powered voice journal 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cognitive load for non-English users (Bharat-First, 25%)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Architecture &amp; User Journey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6400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In-browser architecture (PWA, works offline and on low bandwidth)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645920" cy="150876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033272"/>
            <a:ext cx="1554480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tracker 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Trades, P&amp;L, leverage and timestamps captured as an event stream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164592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C"/>
                </a:solidFill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1005840"/>
            <a:ext cx="1645920" cy="150876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033272"/>
            <a:ext cx="1554480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 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loss &gt; X%, leverage &gt; Y, bursts, 11 PM–5 AM. Int8 ONNX/TF.js model adds an anomaly score. Rules override ML.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164592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C"/>
                </a:solidFill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645920" cy="150876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1033272"/>
            <a:ext cx="1554480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Circuit-breaker 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IS_LOCKED disables submit and blocks the request; cooling-off timer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164592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C"/>
                </a:solidFill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1645920" cy="150876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32120" y="1033272"/>
            <a:ext cx="1554480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reflection 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speech-to-text (Whisper-tiny/Vosk); audio discarded. Bhashini optional, text only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164592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81BC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23760" y="1005840"/>
            <a:ext cx="1645920" cy="1508760"/>
          </a:xfrm>
          <a:prstGeom prst="rect">
            <a:avLst/>
          </a:prstGeom>
          <a:solidFill>
            <a:srgbClr val="EAF1FA"/>
          </a:solidFill>
          <a:ln w="9525">
            <a:solidFill>
              <a:srgbClr val="4F81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9480" y="1033272"/>
            <a:ext cx="1554480" cy="1453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log 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+ Web Crypto AES-GCM; nothing sent to a server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2578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Vite PWA · service worker · onnxruntime-web · Web Crypto. Data: practice trading screen + CSV import; no SMS/OTP.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859536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" y="28803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journey – Ramesh, 24, Kolhapur, Marathi speaker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Loses 3 trades, tries a bigger leveraged one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0" y="32461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Engine flags loss-chasing + high leverage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49040" y="32461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4904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Submit locks; calm Marathi message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0" y="32461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Speaks his reason and time horizon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23760" y="32461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4F81B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Entry saved; trade unlocks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handled: low latency · small int8 model for slow devices · precision over recall to limit false locks · user override after timer.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Guardrail Compliance, Privacy &amp; Sustainability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12064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640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Mandatory guardrails vs SANKALP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87552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6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SANKALP complies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69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tips / buy-sell-hold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recommends or predicts; only pauses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monetisation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ads, commissions or upsells; open 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by design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SMS, OTP or PII; all data on-device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speculation driver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trading frequency, not increases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about uncertainty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say "possible pattern", with reasons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disclosure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libraries and APIs listed in the README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640080"/>
            <a:ext cx="329184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77840" y="640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Sustainability (public good)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987552"/>
            <a:ext cx="3291840" cy="361188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1014984"/>
            <a:ext cx="3200400" cy="3557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any platform or NGO to adopt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path: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CSR and investor-education fund partnerships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servers, so near-zero running cost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reviewed with regulators and mentors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and adoption, never revenue per user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&amp; Roadmap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640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Hackathon Sprint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2743200" cy="361188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014984"/>
            <a:ext cx="2651760" cy="3557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thresholds, app skeleton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and lock UI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voice journal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demo video, deck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% complete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640080"/>
            <a:ext cx="274320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640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987552"/>
            <a:ext cx="2743200" cy="361188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014984"/>
            <a:ext cx="2651760" cy="3557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users in Kolhapur and nearby towns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from false-lock rates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Marathi, then more via Bhashini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text, screen reader, simple icons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devices, offline 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640080"/>
            <a:ext cx="2834640" cy="292608"/>
          </a:xfrm>
          <a:prstGeom prst="rect">
            <a:avLst/>
          </a:prstGeom>
          <a:solidFill>
            <a:srgbClr val="F1F1F1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640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Vision &amp; Scalability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987552"/>
            <a:ext cx="2834640" cy="361188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014984"/>
            <a:ext cx="2743200" cy="35570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gate broker websites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safety SDK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regulated platform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investor-education programmes, self-help groups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050" dirty="0"/>
          </a:p>
          <a:p>
            <a:pPr algn="l"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fall in impulsive, loss-chasing trades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</a:rPr>
              <a:t>SANKALP  |  SANGYAN Investor Resilience Hackathon  |  Track D</a:t>
            </a:r>
            <a:endParaRPr lang="en-US" sz="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SANGYAN Problem Statement &amp; Participant Charter (demat growth, F&amp;O loss statistic)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SNTC IIT (BHU) with SEBI and NSDL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sangyan.sntciitbhu.co.in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of profit and loss of individual F&amp;O traders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sebi.gov.in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language models, STT/TTS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Bhashini (MeitY)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bhashini.gov.in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inference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Lite / ONNX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tensorflow.org/lite · onnxruntime.ai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00400"/>
            <a:ext cx="4114800" cy="1097280"/>
          </a:xfrm>
          <a:prstGeom prst="rect">
            <a:avLst/>
          </a:prstGeom>
          <a:solidFill>
            <a:srgbClr val="F1F1F1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20040" y="3227832"/>
            <a:ext cx="402336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prototype link: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submission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(3–5 min): 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2026-10-04T13:36:47Z</dcterms:created>
  <dcterms:modified xsi:type="dcterms:W3CDTF">2026-10-04T13:36:47Z</dcterms:modified>
</cp:coreProperties>
</file>